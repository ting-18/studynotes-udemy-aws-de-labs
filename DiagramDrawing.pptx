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792913" cy="9925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080" autoAdjust="0"/>
  </p:normalViewPr>
  <p:slideViewPr>
    <p:cSldViewPr snapToGrid="0">
      <p:cViewPr varScale="1">
        <p:scale>
          <a:sx n="53" d="100"/>
          <a:sy n="53" d="100"/>
        </p:scale>
        <p:origin x="62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D4E73-97E7-4AF5-B74D-26D65A48B70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4713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F382-5658-4314-9BA9-08DE96686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F382-5658-4314-9BA9-08DE966862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90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Practice list!!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ym typeface="Wingdings 2" panose="05020102010507070707" pitchFamily="18" charset="2"/>
              </a:rPr>
              <a:t></a:t>
            </a:r>
            <a:r>
              <a:rPr lang="en-US" b="1" dirty="0"/>
              <a:t>1. Practice Pandas coding to </a:t>
            </a:r>
            <a:r>
              <a:rPr lang="en-US" altLang="zh-CN" b="1" dirty="0"/>
              <a:t>calculate </a:t>
            </a:r>
            <a:r>
              <a:rPr lang="en-US" altLang="zh-CN" b="1" dirty="0" err="1"/>
              <a:t>kpis</a:t>
            </a:r>
            <a:r>
              <a:rPr lang="en-US" altLang="zh-CN" b="1" dirty="0"/>
              <a:t> (local-dev)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ym typeface="Wingdings 2" panose="05020102010507070707" pitchFamily="18" charset="2"/>
              </a:rPr>
              <a:t> </a:t>
            </a:r>
            <a:r>
              <a:rPr lang="en-US" b="1" dirty="0"/>
              <a:t>2. S3 (</a:t>
            </a:r>
            <a:r>
              <a:rPr lang="en-US" b="1" dirty="0" err="1"/>
              <a:t>read_file</a:t>
            </a:r>
            <a:r>
              <a:rPr lang="en-US" b="1" dirty="0"/>
              <a:t>, </a:t>
            </a:r>
            <a:r>
              <a:rPr lang="en-US" b="1" dirty="0" err="1"/>
              <a:t>list_files</a:t>
            </a:r>
            <a:r>
              <a:rPr lang="en-US" b="1" dirty="0"/>
              <a:t>/read </a:t>
            </a:r>
            <a:r>
              <a:rPr lang="en-US" b="1" dirty="0" err="1"/>
              <a:t>foler</a:t>
            </a:r>
            <a:r>
              <a:rPr lang="en-US" b="1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ym typeface="Wingdings 2" panose="05020102010507070707" pitchFamily="18" charset="2"/>
              </a:rPr>
              <a:t></a:t>
            </a:r>
            <a:r>
              <a:rPr lang="en-US" b="1" dirty="0"/>
              <a:t>3. </a:t>
            </a:r>
            <a:r>
              <a:rPr lang="en-US" b="1" dirty="0" err="1"/>
              <a:t>Airflow_hook</a:t>
            </a:r>
            <a:r>
              <a:rPr lang="en-US" b="1" dirty="0"/>
              <a:t> for Redshift(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PostgresHook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b="1" dirty="0"/>
              <a:t>) to insert data to redshift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To-dos for project: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ym typeface="Wingdings 2" panose="05020102010507070707" pitchFamily="18" charset="2"/>
              </a:rPr>
              <a:t></a:t>
            </a:r>
            <a:r>
              <a:rPr lang="en-US" b="1" dirty="0"/>
              <a:t>Terraform infrastructure: s3 bucket </a:t>
            </a:r>
            <a:r>
              <a:rPr lang="en-US" b="1" dirty="0">
                <a:sym typeface="Wingdings 2" panose="05020102010507070707" pitchFamily="18" charset="2"/>
              </a:rPr>
              <a:t></a:t>
            </a:r>
            <a:r>
              <a:rPr lang="en-US" b="1" dirty="0"/>
              <a:t>, redshift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F382-5658-4314-9BA9-08DE966862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0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4A3D-1A52-B35A-8077-A8114E859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6613F-F979-9F4E-0AE0-5A3E1B4AE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56602-A6B8-6273-8F34-C247E13F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FC7F6-474A-03D0-C5A5-89FBA617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7398B-645E-3485-F8A7-AED42154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9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6286-55EA-AB65-EB31-98000CE2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80CE6-5027-E375-C4AF-7770579F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3CCEE-2471-6CD3-85B5-D10A422E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45255-71B3-0BA0-221C-C67F7617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734E9-A489-E0E9-167B-2DEBC2E8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5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7E81-FBE5-CB34-8DE4-97D66D13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A4A8F-E487-73C4-8579-3B8DFE8AC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D9088-86DD-EE64-077F-3AD395F9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A74B2-959C-0297-1C6C-55BA058A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2BE25-1233-BF9C-1C2D-524BDA92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0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A74A-FD8C-B71E-E4D4-70B82362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5EF0-E4AE-B8EB-9AAF-35C051937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CE750-00AF-FC18-16B1-EFA66D8CA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1761F-A971-4DD3-A6CA-66246374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D2331-6591-C715-AFE4-D0B5ECCF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91057-92E2-60F4-3793-BFC58FF1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0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7293-3204-CC2D-5F6B-A2F21137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A9B81-4D4A-78CA-7C2E-A1C606F0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4A12F-7D15-992B-6AD2-8A5EC2D6C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F41B1-F27A-1C83-A52B-CCD92943F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2A352-1F93-1820-5C99-A6BF392E2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DA845-D2BC-D66F-56E1-99ADD761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6BE43C-0D60-C6C9-559A-7FEC1DC8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522A8-DA77-8212-08A4-7FB4C1BF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3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F885-4CBE-16BE-BB41-22A77417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772AF-41D5-E7A0-508D-55623BC9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5694B-2BF1-FB80-F398-38F77C07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8A312-1351-34E9-6B33-2EC3DDAC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8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60D9AE-B771-9BD7-59AC-7F69E98B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05A582-4E90-43E4-80C1-6743A4AAB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B41DB-D415-F7C8-EB3F-6A6789ED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0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3182-9BA4-91A6-7A33-C2F86934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1AD4-F356-51C4-83B6-08E862B0C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A4D73-2BCB-EBA2-A406-3A214D432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E6E9C-F6A2-9109-0F47-64B2E6E6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9D0E0-6DDD-F545-7874-2233CD22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B3354-2F25-39B6-A76B-06621C58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9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7DDC-913A-C3EC-FE72-3857A523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5955AD-ED8A-4376-29B7-57545D304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0EE56-7675-7523-FE59-7BB1D3261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46028-BA2F-7DA5-9566-A8827D1B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E8C2D-2115-F685-D582-103C39A6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C2EF2-AFC5-E685-E3EC-80BDCDD9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2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E804-ECD8-CDEE-AE40-8F3CA812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6B519-62B4-5017-909D-11E5A88D0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8EC16-3FA0-B78E-7759-4F28848A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B20E8-B779-70F8-3FDC-1498E26A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D73E8-7C4F-DBEB-332C-92DA4CA6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F1C30-49DD-0F7D-BFD4-CAC4F68C0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6F753-1D01-C7B4-735F-D09CE3105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1475-E32E-BD07-33F0-1226D31C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22FB0-8D87-7A6C-0479-7A288E02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A840A-9820-C2AD-2EDE-4B240C6C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2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251AC-7930-320E-F97B-2FAD238E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8B1EC-05F0-1A7A-856E-9B065D15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D8139-B5F3-392A-B328-0896F649D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0A6BC-4AB9-46E7-BCF6-741CC32C194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430B3-0459-26FD-3E7C-50D41955F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7A0C2-12F8-38E8-2410-573BDB6E5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5ACC1-EA4E-411B-A5B6-0E0DDF63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86BE3C6-90AA-9F29-5BCA-BC641A8A70FC}"/>
              </a:ext>
            </a:extLst>
          </p:cNvPr>
          <p:cNvSpPr/>
          <p:nvPr/>
        </p:nvSpPr>
        <p:spPr>
          <a:xfrm>
            <a:off x="502024" y="591670"/>
            <a:ext cx="3209364" cy="6051177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798C4-3294-3F3E-B407-FD70FCC6BC62}"/>
              </a:ext>
            </a:extLst>
          </p:cNvPr>
          <p:cNvSpPr txBox="1"/>
          <p:nvPr/>
        </p:nvSpPr>
        <p:spPr>
          <a:xfrm>
            <a:off x="304799" y="215153"/>
            <a:ext cx="252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Lab1: Datasets </a:t>
            </a:r>
            <a:r>
              <a:rPr lang="en-US" altLang="zh-CN" b="1" dirty="0"/>
              <a:t>Structure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F1BE5-BDFF-BEAA-E4B0-426DF95A8DDC}"/>
              </a:ext>
            </a:extLst>
          </p:cNvPr>
          <p:cNvSpPr txBox="1"/>
          <p:nvPr/>
        </p:nvSpPr>
        <p:spPr>
          <a:xfrm>
            <a:off x="502023" y="584485"/>
            <a:ext cx="270734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Songs.csv</a:t>
            </a:r>
          </a:p>
          <a:p>
            <a:r>
              <a:rPr lang="en-US" sz="2000" dirty="0"/>
              <a:t>--------------------------------</a:t>
            </a:r>
          </a:p>
          <a:p>
            <a:r>
              <a:rPr lang="en-US" sz="2000" dirty="0"/>
              <a:t>'id’,</a:t>
            </a:r>
          </a:p>
          <a:p>
            <a:r>
              <a:rPr 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'</a:t>
            </a:r>
            <a:r>
              <a:rPr lang="en-US" sz="2000" b="1" dirty="0" err="1">
                <a:solidFill>
                  <a:srgbClr val="00B050"/>
                </a:solidFill>
              </a:rPr>
              <a:t>track_id</a:t>
            </a:r>
            <a:r>
              <a:rPr lang="en-US" sz="2000" b="1" dirty="0">
                <a:solidFill>
                  <a:srgbClr val="00B050"/>
                </a:solidFill>
              </a:rPr>
              <a:t>’,</a:t>
            </a:r>
          </a:p>
          <a:p>
            <a:r>
              <a:rPr lang="en-US" sz="2000" dirty="0"/>
              <a:t> 'artists’,</a:t>
            </a:r>
          </a:p>
          <a:p>
            <a:r>
              <a:rPr lang="en-US" sz="2000" dirty="0"/>
              <a:t> '</a:t>
            </a:r>
            <a:r>
              <a:rPr lang="en-US" sz="2000" dirty="0" err="1"/>
              <a:t>album_name</a:t>
            </a:r>
            <a:r>
              <a:rPr lang="en-US" sz="2000" dirty="0"/>
              <a:t>', '</a:t>
            </a:r>
            <a:r>
              <a:rPr lang="en-US" sz="2000" dirty="0" err="1"/>
              <a:t>track_name</a:t>
            </a:r>
            <a:r>
              <a:rPr lang="en-US" sz="2000" dirty="0"/>
              <a:t>', </a:t>
            </a:r>
            <a:r>
              <a:rPr lang="en-US" sz="2000" dirty="0">
                <a:solidFill>
                  <a:srgbClr val="00B050"/>
                </a:solidFill>
              </a:rPr>
              <a:t>'popularity', '</a:t>
            </a:r>
            <a:r>
              <a:rPr lang="en-US" sz="2000" dirty="0" err="1">
                <a:solidFill>
                  <a:srgbClr val="00B050"/>
                </a:solidFill>
              </a:rPr>
              <a:t>duration_ms</a:t>
            </a:r>
            <a:r>
              <a:rPr lang="en-US" sz="2000" dirty="0">
                <a:solidFill>
                  <a:srgbClr val="00B050"/>
                </a:solidFill>
              </a:rPr>
              <a:t>’, </a:t>
            </a:r>
          </a:p>
          <a:p>
            <a:r>
              <a:rPr lang="en-US" sz="2000" dirty="0"/>
              <a:t>'explicit’, 'danceability’,</a:t>
            </a:r>
          </a:p>
          <a:p>
            <a:r>
              <a:rPr lang="en-US" sz="2000" dirty="0"/>
              <a:t> 'energy', 'key', 'loudness', 'mode', '</a:t>
            </a:r>
            <a:r>
              <a:rPr lang="en-US" sz="2000" dirty="0" err="1"/>
              <a:t>speechiness</a:t>
            </a:r>
            <a:r>
              <a:rPr lang="en-US" sz="2000" dirty="0"/>
              <a:t>', '</a:t>
            </a:r>
            <a:r>
              <a:rPr lang="en-US" sz="2000" dirty="0" err="1"/>
              <a:t>acousticness</a:t>
            </a:r>
            <a:r>
              <a:rPr lang="en-US" sz="2000" dirty="0"/>
              <a:t>', '</a:t>
            </a:r>
            <a:r>
              <a:rPr lang="en-US" sz="2000" dirty="0" err="1"/>
              <a:t>instrumentalness</a:t>
            </a:r>
            <a:r>
              <a:rPr lang="en-US" sz="2000" dirty="0"/>
              <a:t>', 'liveness', 'valence', 'tempo', '</a:t>
            </a:r>
            <a:r>
              <a:rPr lang="en-US" sz="2000" dirty="0" err="1"/>
              <a:t>time_signature</a:t>
            </a:r>
            <a:r>
              <a:rPr lang="en-US" sz="2000" dirty="0"/>
              <a:t>', </a:t>
            </a:r>
            <a:r>
              <a:rPr lang="en-US" sz="2000" b="1" dirty="0">
                <a:solidFill>
                  <a:srgbClr val="00B050"/>
                </a:solidFill>
              </a:rPr>
              <a:t>'</a:t>
            </a:r>
            <a:r>
              <a:rPr lang="en-US" sz="2000" b="1" dirty="0" err="1">
                <a:solidFill>
                  <a:srgbClr val="00B050"/>
                </a:solidFill>
              </a:rPr>
              <a:t>track_genre</a:t>
            </a:r>
            <a:r>
              <a:rPr lang="en-US" sz="2000" b="1" dirty="0">
                <a:solidFill>
                  <a:srgbClr val="00B050"/>
                </a:solidFill>
              </a:rPr>
              <a:t>'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C97B5CCE-4124-A89E-8440-D750D059A004}"/>
              </a:ext>
            </a:extLst>
          </p:cNvPr>
          <p:cNvSpPr/>
          <p:nvPr/>
        </p:nvSpPr>
        <p:spPr>
          <a:xfrm>
            <a:off x="4518211" y="591670"/>
            <a:ext cx="2599765" cy="3532094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6E89F-4A9E-FF4B-82A3-14C660E266A6}"/>
              </a:ext>
            </a:extLst>
          </p:cNvPr>
          <p:cNvSpPr txBox="1"/>
          <p:nvPr/>
        </p:nvSpPr>
        <p:spPr>
          <a:xfrm>
            <a:off x="4518211" y="634714"/>
            <a:ext cx="25997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Streams1-4.csv</a:t>
            </a:r>
          </a:p>
          <a:p>
            <a:r>
              <a:rPr lang="en-US" sz="2000" dirty="0"/>
              <a:t>-------------------------------</a:t>
            </a:r>
          </a:p>
          <a:p>
            <a:r>
              <a:rPr lang="en-US" sz="2000" dirty="0"/>
              <a:t>'</a:t>
            </a:r>
            <a:r>
              <a:rPr lang="en-US" sz="2000" dirty="0" err="1"/>
              <a:t>user_id</a:t>
            </a:r>
            <a:r>
              <a:rPr lang="en-US" sz="2000" dirty="0"/>
              <a:t>’, 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'</a:t>
            </a:r>
            <a:r>
              <a:rPr lang="en-US" sz="2000" b="1" dirty="0" err="1">
                <a:solidFill>
                  <a:srgbClr val="00B050"/>
                </a:solidFill>
              </a:rPr>
              <a:t>track_id</a:t>
            </a:r>
            <a:r>
              <a:rPr lang="en-US" sz="2000" b="1" dirty="0">
                <a:solidFill>
                  <a:srgbClr val="00B050"/>
                </a:solidFill>
              </a:rPr>
              <a:t>’,</a:t>
            </a:r>
          </a:p>
          <a:p>
            <a:r>
              <a:rPr 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'</a:t>
            </a:r>
            <a:r>
              <a:rPr lang="en-US" sz="2000" b="1" dirty="0" err="1">
                <a:solidFill>
                  <a:srgbClr val="00B050"/>
                </a:solidFill>
              </a:rPr>
              <a:t>listen_time</a:t>
            </a:r>
            <a:r>
              <a:rPr lang="en-US" sz="2000" b="1" dirty="0">
                <a:solidFill>
                  <a:srgbClr val="00B050"/>
                </a:solidFill>
              </a:rPr>
              <a:t>'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806F7C-8C70-1EA9-DC60-B3F895D86B57}"/>
              </a:ext>
            </a:extLst>
          </p:cNvPr>
          <p:cNvCxnSpPr>
            <a:cxnSpLocks/>
          </p:cNvCxnSpPr>
          <p:nvPr/>
        </p:nvCxnSpPr>
        <p:spPr>
          <a:xfrm flipH="1">
            <a:off x="1810871" y="1703294"/>
            <a:ext cx="2707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4EA2084A-792E-07DD-F973-ABD124074CC1}"/>
              </a:ext>
            </a:extLst>
          </p:cNvPr>
          <p:cNvSpPr/>
          <p:nvPr/>
        </p:nvSpPr>
        <p:spPr>
          <a:xfrm>
            <a:off x="8525986" y="634714"/>
            <a:ext cx="2599765" cy="3532094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06859-34A9-D68A-DFC3-25AA3EBEE98E}"/>
              </a:ext>
            </a:extLst>
          </p:cNvPr>
          <p:cNvSpPr txBox="1"/>
          <p:nvPr/>
        </p:nvSpPr>
        <p:spPr>
          <a:xfrm>
            <a:off x="8525986" y="677758"/>
            <a:ext cx="25997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users.csv</a:t>
            </a:r>
          </a:p>
          <a:p>
            <a:r>
              <a:rPr lang="en-US" sz="2000" dirty="0"/>
              <a:t>-------------------------------</a:t>
            </a:r>
          </a:p>
          <a:p>
            <a:r>
              <a:rPr lang="en-US" sz="2000" dirty="0"/>
              <a:t>'</a:t>
            </a:r>
            <a:r>
              <a:rPr lang="en-US" sz="2000" dirty="0" err="1"/>
              <a:t>user_id</a:t>
            </a:r>
            <a:r>
              <a:rPr lang="en-US" sz="2000" dirty="0"/>
              <a:t>’, </a:t>
            </a:r>
          </a:p>
          <a:p>
            <a:r>
              <a:rPr lang="en-US" sz="2000" dirty="0" err="1"/>
              <a:t>user_name</a:t>
            </a:r>
            <a:endParaRPr lang="en-US" sz="2000" dirty="0"/>
          </a:p>
          <a:p>
            <a:r>
              <a:rPr lang="en-US" sz="2000" dirty="0" err="1">
                <a:solidFill>
                  <a:srgbClr val="00B050"/>
                </a:solidFill>
              </a:rPr>
              <a:t>user_age</a:t>
            </a:r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 err="1"/>
              <a:t>user_country</a:t>
            </a:r>
            <a:endParaRPr lang="en-US" sz="2000" dirty="0"/>
          </a:p>
          <a:p>
            <a:r>
              <a:rPr lang="en-US" sz="2000" dirty="0" err="1"/>
              <a:t>created_at</a:t>
            </a:r>
            <a:endParaRPr lang="en-US" sz="2000" dirty="0"/>
          </a:p>
          <a:p>
            <a:endParaRPr lang="en-US" sz="20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B3B08-B192-A1DB-5151-7E30B53B5146}"/>
              </a:ext>
            </a:extLst>
          </p:cNvPr>
          <p:cNvCxnSpPr>
            <a:cxnSpLocks/>
          </p:cNvCxnSpPr>
          <p:nvPr/>
        </p:nvCxnSpPr>
        <p:spPr>
          <a:xfrm flipH="1">
            <a:off x="5527565" y="1445147"/>
            <a:ext cx="29984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81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8E0C7-D2B4-64E7-3A04-718561C16C38}"/>
              </a:ext>
            </a:extLst>
          </p:cNvPr>
          <p:cNvSpPr txBox="1"/>
          <p:nvPr/>
        </p:nvSpPr>
        <p:spPr>
          <a:xfrm>
            <a:off x="304799" y="215153"/>
            <a:ext cx="5333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Lab1: Airflow DAG Visual Dataflow and code structure</a:t>
            </a:r>
            <a:endParaRPr lang="en-US" b="1" dirty="0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1F0AEB09-B0E2-2A13-123F-ECAD0527B4C7}"/>
              </a:ext>
            </a:extLst>
          </p:cNvPr>
          <p:cNvSpPr/>
          <p:nvPr/>
        </p:nvSpPr>
        <p:spPr>
          <a:xfrm>
            <a:off x="304799" y="703637"/>
            <a:ext cx="4117910" cy="2450109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92E02-707F-7C1B-1A22-E78850675712}"/>
              </a:ext>
            </a:extLst>
          </p:cNvPr>
          <p:cNvSpPr txBox="1"/>
          <p:nvPr/>
        </p:nvSpPr>
        <p:spPr>
          <a:xfrm>
            <a:off x="304798" y="746681"/>
            <a:ext cx="41179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Source S3</a:t>
            </a:r>
          </a:p>
          <a:p>
            <a:r>
              <a:rPr lang="en-US" sz="2000" dirty="0"/>
              <a:t>-------------------------------</a:t>
            </a:r>
          </a:p>
          <a:p>
            <a:r>
              <a:rPr lang="en-US" sz="2000" dirty="0"/>
              <a:t>Bucket_Name:’</a:t>
            </a:r>
            <a:r>
              <a:rPr lang="en-US" sz="2000" dirty="0" err="1"/>
              <a:t>nl</a:t>
            </a:r>
            <a:r>
              <a:rPr lang="en-US" sz="2000" dirty="0"/>
              <a:t>-</a:t>
            </a:r>
            <a:r>
              <a:rPr lang="en-US" sz="2000" dirty="0" err="1"/>
              <a:t>aws</a:t>
            </a:r>
            <a:r>
              <a:rPr lang="en-US" sz="2000" dirty="0"/>
              <a:t>-de-labs’ </a:t>
            </a:r>
          </a:p>
          <a:p>
            <a:pPr lvl="1"/>
            <a:r>
              <a:rPr lang="en-US" sz="2000" dirty="0" err="1">
                <a:solidFill>
                  <a:srgbClr val="0070C0"/>
                </a:solidFill>
              </a:rPr>
              <a:t>spotify_data</a:t>
            </a:r>
            <a:r>
              <a:rPr lang="en-US" sz="2000" dirty="0">
                <a:solidFill>
                  <a:srgbClr val="0070C0"/>
                </a:solidFill>
              </a:rPr>
              <a:t>/songs.csv,</a:t>
            </a:r>
          </a:p>
          <a:p>
            <a:pPr lvl="1"/>
            <a:r>
              <a:rPr lang="en-US" sz="2000" dirty="0" err="1">
                <a:solidFill>
                  <a:srgbClr val="0070C0"/>
                </a:solidFill>
              </a:rPr>
              <a:t>spotify_data</a:t>
            </a:r>
            <a:r>
              <a:rPr lang="en-US" sz="2000" dirty="0">
                <a:solidFill>
                  <a:srgbClr val="0070C0"/>
                </a:solidFill>
              </a:rPr>
              <a:t>/users.csv,</a:t>
            </a:r>
          </a:p>
          <a:p>
            <a:pPr lvl="1"/>
            <a:r>
              <a:rPr lang="en-US" sz="2000" dirty="0" err="1"/>
              <a:t>spotify_data</a:t>
            </a:r>
            <a:r>
              <a:rPr lang="en-US" sz="2000" dirty="0"/>
              <a:t>/streams/</a:t>
            </a:r>
          </a:p>
          <a:p>
            <a:pPr lvl="1"/>
            <a:r>
              <a:rPr lang="en-US" sz="2000" dirty="0" err="1"/>
              <a:t>spotify_data</a:t>
            </a:r>
            <a:r>
              <a:rPr lang="en-US" sz="2000" dirty="0"/>
              <a:t>/ streams/archived/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2A1235C-9064-844D-FBD9-B13775CEDA3A}"/>
              </a:ext>
            </a:extLst>
          </p:cNvPr>
          <p:cNvSpPr/>
          <p:nvPr/>
        </p:nvSpPr>
        <p:spPr>
          <a:xfrm>
            <a:off x="5828991" y="239801"/>
            <a:ext cx="2941785" cy="1058707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9AFD2-A56F-D1FB-396D-A0369E4A6656}"/>
              </a:ext>
            </a:extLst>
          </p:cNvPr>
          <p:cNvSpPr txBox="1"/>
          <p:nvPr/>
        </p:nvSpPr>
        <p:spPr>
          <a:xfrm>
            <a:off x="5828991" y="282845"/>
            <a:ext cx="2941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Read_s3_csv(</a:t>
            </a:r>
            <a:r>
              <a:rPr lang="en-US" sz="2000" b="1" dirty="0" err="1">
                <a:solidFill>
                  <a:schemeClr val="accent1"/>
                </a:solidFill>
              </a:rPr>
              <a:t>file_name</a:t>
            </a:r>
            <a:r>
              <a:rPr lang="en-US" sz="2000" b="1" dirty="0">
                <a:solidFill>
                  <a:schemeClr val="accent1"/>
                </a:solidFill>
              </a:rPr>
              <a:t>)</a:t>
            </a:r>
          </a:p>
          <a:p>
            <a:r>
              <a:rPr lang="en-US" sz="2000" dirty="0"/>
              <a:t>-------------------------------</a:t>
            </a:r>
          </a:p>
          <a:p>
            <a:r>
              <a:rPr lang="en-US" sz="2000" dirty="0"/>
              <a:t>S3.get_object()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C3C6B99A-A0BE-BED8-9F2E-4340FBF1AB22}"/>
              </a:ext>
            </a:extLst>
          </p:cNvPr>
          <p:cNvSpPr/>
          <p:nvPr/>
        </p:nvSpPr>
        <p:spPr>
          <a:xfrm>
            <a:off x="5828991" y="1698486"/>
            <a:ext cx="2941785" cy="1058707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0D8DC-2430-FF26-7CD0-76AF57A698D3}"/>
              </a:ext>
            </a:extLst>
          </p:cNvPr>
          <p:cNvSpPr txBox="1"/>
          <p:nvPr/>
        </p:nvSpPr>
        <p:spPr>
          <a:xfrm>
            <a:off x="5828991" y="1720007"/>
            <a:ext cx="2941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list_s3_files(prefix)</a:t>
            </a:r>
          </a:p>
          <a:p>
            <a:r>
              <a:rPr lang="en-US" sz="2000" dirty="0"/>
              <a:t>-------------------------------</a:t>
            </a:r>
          </a:p>
          <a:p>
            <a:r>
              <a:rPr lang="en-US" sz="2000" dirty="0"/>
              <a:t>S3.list_objects_v2()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4D2DD9-72ED-C38E-7067-96EC7648BFE4}"/>
              </a:ext>
            </a:extLst>
          </p:cNvPr>
          <p:cNvCxnSpPr/>
          <p:nvPr/>
        </p:nvCxnSpPr>
        <p:spPr>
          <a:xfrm flipV="1">
            <a:off x="3303037" y="584485"/>
            <a:ext cx="2525954" cy="1393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A61DB4-0003-BDA5-434C-2FB70123607F}"/>
              </a:ext>
            </a:extLst>
          </p:cNvPr>
          <p:cNvCxnSpPr>
            <a:cxnSpLocks/>
          </p:cNvCxnSpPr>
          <p:nvPr/>
        </p:nvCxnSpPr>
        <p:spPr>
          <a:xfrm flipV="1">
            <a:off x="3303037" y="1978090"/>
            <a:ext cx="2525954" cy="485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FC44CE8-8758-FEEE-EFBA-89799BEE8764}"/>
              </a:ext>
            </a:extLst>
          </p:cNvPr>
          <p:cNvSpPr txBox="1"/>
          <p:nvPr/>
        </p:nvSpPr>
        <p:spPr>
          <a:xfrm>
            <a:off x="304797" y="3369841"/>
            <a:ext cx="3576735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Task1,2: </a:t>
            </a:r>
            <a:r>
              <a:rPr lang="en-US" sz="2000" b="1" dirty="0"/>
              <a:t>Validate</a:t>
            </a:r>
          </a:p>
          <a:p>
            <a:r>
              <a:rPr lang="en-US" sz="2000" dirty="0"/>
              <a:t>-------------------------------</a:t>
            </a:r>
          </a:p>
          <a:p>
            <a:r>
              <a:rPr lang="en-US" sz="2000" dirty="0">
                <a:solidFill>
                  <a:srgbClr val="00B050"/>
                </a:solidFill>
              </a:rPr>
              <a:t>1.If can read files successfully</a:t>
            </a:r>
          </a:p>
          <a:p>
            <a:r>
              <a:rPr lang="en-US" sz="2000" dirty="0">
                <a:solidFill>
                  <a:srgbClr val="00B050"/>
                </a:solidFill>
              </a:rPr>
              <a:t>2.Check validation results match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B1CE0-9394-5FA2-93FF-86FDB13A9150}"/>
              </a:ext>
            </a:extLst>
          </p:cNvPr>
          <p:cNvSpPr txBox="1"/>
          <p:nvPr/>
        </p:nvSpPr>
        <p:spPr>
          <a:xfrm>
            <a:off x="2041230" y="5319408"/>
            <a:ext cx="6449628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Task3,4:Transformation &amp; </a:t>
            </a:r>
            <a:r>
              <a:rPr lang="en-US" sz="2000" b="1" dirty="0" err="1"/>
              <a:t>upsert</a:t>
            </a:r>
            <a:r>
              <a:rPr lang="en-US" sz="2000" b="1" dirty="0"/>
              <a:t> to redshift</a:t>
            </a:r>
          </a:p>
          <a:p>
            <a:r>
              <a:rPr lang="en-US" sz="2000" dirty="0"/>
              <a:t>---------------------------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Calculate_kpi_1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Calculate_kpi_2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4815E8-8ED0-4185-C4DE-BD81ED56EF90}"/>
              </a:ext>
            </a:extLst>
          </p:cNvPr>
          <p:cNvSpPr txBox="1"/>
          <p:nvPr/>
        </p:nvSpPr>
        <p:spPr>
          <a:xfrm>
            <a:off x="9623910" y="5311566"/>
            <a:ext cx="2169511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Task5: </a:t>
            </a:r>
            <a:r>
              <a:rPr lang="en-US" sz="2000" b="1" dirty="0" err="1"/>
              <a:t>Move_files</a:t>
            </a:r>
            <a:endParaRPr lang="en-US" sz="2000" b="1" dirty="0"/>
          </a:p>
          <a:p>
            <a:r>
              <a:rPr lang="en-US" sz="2000" dirty="0"/>
              <a:t>---------------------</a:t>
            </a:r>
          </a:p>
          <a:p>
            <a:r>
              <a:rPr lang="en-US" sz="2000" dirty="0">
                <a:solidFill>
                  <a:srgbClr val="00B050"/>
                </a:solidFill>
              </a:rPr>
              <a:t>S3-move files to archived folder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FD7A7-3554-1E5B-4D85-FCE82CCEF558}"/>
              </a:ext>
            </a:extLst>
          </p:cNvPr>
          <p:cNvSpPr txBox="1"/>
          <p:nvPr/>
        </p:nvSpPr>
        <p:spPr>
          <a:xfrm>
            <a:off x="5266044" y="3686833"/>
            <a:ext cx="1769238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Task3 </a:t>
            </a:r>
            <a:r>
              <a:rPr lang="en-US" sz="2000" b="1" dirty="0" err="1"/>
              <a:t>End_dag</a:t>
            </a:r>
            <a:endParaRPr lang="en-US" sz="2000" b="1" dirty="0"/>
          </a:p>
          <a:p>
            <a:r>
              <a:rPr lang="en-US" sz="2000" dirty="0"/>
              <a:t>------------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E9C4CE-E7D4-20A8-E1C2-D0F1F0F9D781}"/>
              </a:ext>
            </a:extLst>
          </p:cNvPr>
          <p:cNvSpPr txBox="1"/>
          <p:nvPr/>
        </p:nvSpPr>
        <p:spPr>
          <a:xfrm>
            <a:off x="5343799" y="5683438"/>
            <a:ext cx="2941785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Upsert_to_redshift</a:t>
            </a:r>
            <a:r>
              <a:rPr lang="en-US" sz="2000" b="1" dirty="0"/>
              <a:t>()</a:t>
            </a:r>
          </a:p>
          <a:p>
            <a:r>
              <a:rPr lang="en-US" sz="2000" dirty="0"/>
              <a:t>-------------------------------</a:t>
            </a:r>
          </a:p>
          <a:p>
            <a:r>
              <a:rPr lang="en-US" sz="2000" dirty="0" err="1"/>
              <a:t>PostgresHook</a:t>
            </a:r>
            <a:r>
              <a:rPr lang="en-US" sz="2000" dirty="0"/>
              <a:t>()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06A8A3-63D7-8581-B726-D4B48B15A698}"/>
              </a:ext>
            </a:extLst>
          </p:cNvPr>
          <p:cNvCxnSpPr/>
          <p:nvPr/>
        </p:nvCxnSpPr>
        <p:spPr>
          <a:xfrm>
            <a:off x="3881535" y="6090700"/>
            <a:ext cx="1462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D4C06D-4D1D-5401-B2B7-F21EBA3B7E18}"/>
              </a:ext>
            </a:extLst>
          </p:cNvPr>
          <p:cNvCxnSpPr>
            <a:cxnSpLocks/>
          </p:cNvCxnSpPr>
          <p:nvPr/>
        </p:nvCxnSpPr>
        <p:spPr>
          <a:xfrm>
            <a:off x="3881535" y="6463925"/>
            <a:ext cx="1462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005506-D47F-4059-9A97-F59F0EF2C07F}"/>
              </a:ext>
            </a:extLst>
          </p:cNvPr>
          <p:cNvCxnSpPr/>
          <p:nvPr/>
        </p:nvCxnSpPr>
        <p:spPr>
          <a:xfrm>
            <a:off x="3763246" y="4040776"/>
            <a:ext cx="1256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29EF9C-9B4F-33C2-EDD0-E54020473DE9}"/>
              </a:ext>
            </a:extLst>
          </p:cNvPr>
          <p:cNvCxnSpPr/>
          <p:nvPr/>
        </p:nvCxnSpPr>
        <p:spPr>
          <a:xfrm>
            <a:off x="2911151" y="4693280"/>
            <a:ext cx="0" cy="618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5FFD53-7B04-28F1-0534-EDFC1F9C2F03}"/>
              </a:ext>
            </a:extLst>
          </p:cNvPr>
          <p:cNvCxnSpPr>
            <a:cxnSpLocks/>
          </p:cNvCxnSpPr>
          <p:nvPr/>
        </p:nvCxnSpPr>
        <p:spPr>
          <a:xfrm>
            <a:off x="8490858" y="6090700"/>
            <a:ext cx="9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7191A55-5D26-F986-AB35-5757624D34DB}"/>
              </a:ext>
            </a:extLst>
          </p:cNvPr>
          <p:cNvSpPr txBox="1"/>
          <p:nvPr/>
        </p:nvSpPr>
        <p:spPr>
          <a:xfrm>
            <a:off x="4220509" y="366752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B3612B-5BB2-A277-FE59-936D2FAFE910}"/>
              </a:ext>
            </a:extLst>
          </p:cNvPr>
          <p:cNvSpPr txBox="1"/>
          <p:nvPr/>
        </p:nvSpPr>
        <p:spPr>
          <a:xfrm>
            <a:off x="2911151" y="4817757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EEF1DE-F109-5FFB-2CD7-5C132BA3427A}"/>
              </a:ext>
            </a:extLst>
          </p:cNvPr>
          <p:cNvSpPr txBox="1"/>
          <p:nvPr/>
        </p:nvSpPr>
        <p:spPr>
          <a:xfrm>
            <a:off x="9922490" y="513678"/>
            <a:ext cx="19647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this DAG file, </a:t>
            </a:r>
            <a:r>
              <a:rPr lang="en-US" altLang="zh-CN" sz="2400" b="1" dirty="0"/>
              <a:t>there’re </a:t>
            </a:r>
            <a:endParaRPr lang="en-US" sz="2400" b="1" dirty="0"/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8 functions</a:t>
            </a:r>
            <a:r>
              <a:rPr lang="en-US" sz="2400" b="1" dirty="0"/>
              <a:t>, 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6 DAG tasks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042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79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8596</TotalTime>
  <Words>324</Words>
  <Application>Microsoft Office PowerPoint</Application>
  <PresentationFormat>Widescreen</PresentationFormat>
  <Paragraphs>64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 2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Ting Liu</dc:creator>
  <cp:lastModifiedBy>Ting Liu</cp:lastModifiedBy>
  <cp:revision>25</cp:revision>
  <cp:lastPrinted>2026-01-29T22:28:44Z</cp:lastPrinted>
  <dcterms:created xsi:type="dcterms:W3CDTF">2026-01-15T22:56:51Z</dcterms:created>
  <dcterms:modified xsi:type="dcterms:W3CDTF">2026-02-03T16:57:24Z</dcterms:modified>
</cp:coreProperties>
</file>